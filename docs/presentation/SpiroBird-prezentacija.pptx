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6000" b="1">
                <a:solidFill>
                  <a:srgbClr val="F4CA40"/>
                </a:solidFill>
                <a:latin typeface="Segoe UI"/>
              </a:rPr>
              <a:t>SpiroBird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E8EEF6"/>
                </a:solidFill>
                <a:latin typeface="Segoe UI"/>
              </a:rPr>
              <a:t>IoT digitalni spirometar u obliku igre u stilu Flappy Bird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023360"/>
            <a:ext cx="106984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3A8C4"/>
                </a:solidFill>
                <a:latin typeface="Segoe UI"/>
              </a:rPr>
              <a:t>Razvoj ugradbenih sustava · ak. god. 2025./2026. · Tehničko veleučilište u Zagrebu</a:t>
            </a:r>
          </a:p>
          <a:p>
            <a:pPr algn="l"/>
            <a:r>
              <a:rPr sz="800" b="0">
                <a:solidFill>
                  <a:srgbClr val="93A8C4"/>
                </a:solidFill>
                <a:latin typeface="Segoe UI"/>
              </a:rPr>
              <a:t/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Hrvoje Renato Šokčić — razvoj softverskog rješenja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Ivan Benčić — simulacija          Domagoj Lepen — testiranje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Sven Gavranović — dokumentacija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Problem i motivacija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Poticajna spirometrija = standardna respiratorna vježba (rehabilitacija, KOPB, postoperativno)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vježbe su monotone → pacijenti ih preskaču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mehanički spirometri (kuglice) ne daju mjerljive podatke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Ideja: pretvoriti vježbu u igru s mjerljivim, trajno pohranjenim rezultatima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Korisnik 'dahom' upravlja pticom — cilj: stabilan protok u medicinskoj zoni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pragovi 600 / 900 / 1200 ml/s preuzeti iz medicinskih smjernica</a:t>
            </a:r>
          </a:p>
          <a:p>
            <a:pPr algn="l" lvl="1"/>
            <a:r>
              <a:rPr sz="1600" b="0">
                <a:solidFill>
                  <a:srgbClr val="38C172"/>
                </a:solidFill>
                <a:latin typeface="Segoe UI"/>
              </a:rPr>
              <a:t>– uspjeh = protok 900–1200 ml/s stabilno NEPREKIDNO 5 sekundi</a:t>
            </a:r>
          </a:p>
          <a:p>
            <a:pPr algn="l" lvl="1"/>
            <a:r>
              <a:rPr sz="1600" b="0">
                <a:solidFill>
                  <a:srgbClr val="E3554F"/>
                </a:solidFill>
                <a:latin typeface="Segoe UI"/>
              </a:rPr>
              <a:t>– protok &gt; 1200 ml/s = trenutni neuspjeh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U prototipu dah emulira potenciometar — signalni put identičan stvarnom senzoru protoka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Arhitektura sustava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3A8C4"/>
                </a:solidFill>
                <a:latin typeface="Segoe UI"/>
              </a:rPr>
              <a:t>dva fizička ESP32-S3 + backend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CA40"/>
                </a:solidFill>
                <a:latin typeface="Segoe UI"/>
              </a:rPr>
              <a:t>• CONTROLLER / MASTER (ESP32-S3-N16R8)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jedini izvor istine: senzor, logika vježbe, aktuatori, Wi-Fi, NVS</a:t>
            </a:r>
          </a:p>
          <a:p>
            <a:pPr algn="l"/>
            <a:r>
              <a:rPr sz="1800" b="1">
                <a:solidFill>
                  <a:srgbClr val="F4CA40"/>
                </a:solidFill>
                <a:latin typeface="Segoe UI"/>
              </a:rPr>
              <a:t>• DISPLAY / SLAVE (ESP32-S3 + 2.8" ILI9341V + kapacitivni touch)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isključivo renderira primljeno — ne spaja se na Wi-Fi, nema touch izbornike</a:t>
            </a:r>
          </a:p>
          <a:p>
            <a:pPr algn="l"/>
            <a:r>
              <a:rPr sz="1800" b="0">
                <a:solidFill>
                  <a:srgbClr val="41B9D5"/>
                </a:solidFill>
                <a:latin typeface="Segoe UI"/>
              </a:rPr>
              <a:t>• ESP-NOW broadcast 40 Hz (48 B paket: magic + verzija + seq + checksum)</a:t>
            </a:r>
          </a:p>
          <a:p>
            <a:pPr algn="l"/>
            <a:r>
              <a:rPr sz="1800" b="0">
                <a:solidFill>
                  <a:srgbClr val="41B9D5"/>
                </a:solidFill>
                <a:latin typeface="Segoe UI"/>
              </a:rPr>
              <a:t>• BACKEND: Node.js/Express + dashboard — javno na spirobird.onrender.com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HTTP POST rezultata SAMO nakon završetka pokušaja, timeout 1500 ms</a:t>
            </a:r>
          </a:p>
          <a:p>
            <a:pPr algn="l"/>
            <a:r>
              <a:rPr sz="1800" b="1">
                <a:solidFill>
                  <a:srgbClr val="38C172"/>
                </a:solidFill>
                <a:latin typeface="Segoe UI"/>
              </a:rPr>
              <a:t>• Offline-first: bez Wi-Fi-ja i servera igra radi potpuno normalno</a:t>
            </a:r>
          </a:p>
        </p:txBody>
      </p:sp>
      <p:sp>
        <p:nvSpPr>
          <p:cNvPr id="6" name="Rectangle 5"/>
          <p:cNvSpPr/>
          <p:nvPr/>
        </p:nvSpPr>
        <p:spPr>
          <a:xfrm>
            <a:off x="7863840" y="4206240"/>
            <a:ext cx="3840480" cy="2377440"/>
          </a:xfrm>
          <a:prstGeom prst="rect">
            <a:avLst/>
          </a:prstGeom>
          <a:solidFill>
            <a:srgbClr val="122A47"/>
          </a:solidFill>
          <a:ln w="19050">
            <a:solidFill>
              <a:srgbClr val="41B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3A8C4"/>
                </a:solidFill>
              </a:rPr>
              <a:t>[ SLIKA: arhitektura.png ]
blok dijagram (može screenshot iz wikija, str. 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Hardver i ožičenje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0350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Potenciometar B10K → ADC GPIO4 (emulator protoka daha)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Vibro motor preko NPN 2N2222A: 1 kΩ baza, 10 kΩ pull-down, flyback dioda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Wake gumb GPIO21 (start / skip portala / buđenje iz deep sleepa — RTC EXT0)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Onboard WS2812 RGB LED — statusna indikacija stanja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Napajanje 5 V / 1 A, zajednički GND; motor (3 V) na 5 V samo u kratkim pulsevima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1280160"/>
            <a:ext cx="4937760" cy="2743200"/>
          </a:xfrm>
          <a:prstGeom prst="rect">
            <a:avLst/>
          </a:prstGeom>
          <a:solidFill>
            <a:srgbClr val="122A47"/>
          </a:solidFill>
          <a:ln w="19050">
            <a:solidFill>
              <a:srgbClr val="41B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3A8C4"/>
                </a:solidFill>
              </a:rPr>
              <a:t>[ SLIKA: shema-spajanja.png ]
shema iz Circuit Designera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4206240"/>
            <a:ext cx="4937760" cy="2377440"/>
          </a:xfrm>
          <a:prstGeom prst="rect">
            <a:avLst/>
          </a:prstGeom>
          <a:solidFill>
            <a:srgbClr val="122A47"/>
          </a:solidFill>
          <a:ln w="19050">
            <a:solidFill>
              <a:srgbClr val="41B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3A8C4"/>
                </a:solidFill>
              </a:rPr>
              <a:t>[ SLIKA: foto-setup.jpg ]
fotografija stvarnog postava (oba uređaja)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Obrada signala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3A8C4"/>
                </a:solidFill>
                <a:latin typeface="Segoe UI"/>
              </a:rPr>
              <a:t>ADC → protok u ml/s, 100 Hz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Uzorkovanje 100 Hz, usrednjavanje 4 uzorka, korisni ADC raspon 200–3900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Kalibracija s fiksnim centrom: knob u zoni 1700–2300 držan 2 s → nul-točka = 2000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display uživo navodi korisnika: 'turn UP / turn DOWN / hold it right there!'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Deadzone ±70 → otklon se linearno mapira u 0–1400 ml/s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EMA filter (α = 0.20) — uklanja šum bez osjetnog kašnjenja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Stabilnost: ring buffer 500 ms, peak-to-peak varijacija &lt; 180 ml/s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Volumen numeričkom integracijom: V += protok × dt</a:t>
            </a:r>
          </a:p>
          <a:p>
            <a:pPr algn="l" lvl="1"/>
            <a:r>
              <a:rPr sz="1600" b="0">
                <a:solidFill>
                  <a:srgbClr val="38C172"/>
                </a:solidFill>
                <a:latin typeface="Segoe UI"/>
              </a:rPr>
              <a:t>– izmjereni šum na hardveru: p2p &lt; 2 ml/s — izvrsno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Logika vježbe — state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41B9D5"/>
                </a:solidFill>
                <a:latin typeface="Segoe UI"/>
              </a:rPr>
              <a:t>• IDLE → CALIBRATING → READY → ACTIVE → SUCCESS / FAIL → RESULT → IDLE  (+ SLEEP)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Svaka tranzicija se ispisuje na serijsku konzolu (dijagnostika)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ACTIVE: integracija volumena, praćenje max/prosjeka, stable timer 0→5000 ms</a:t>
            </a:r>
          </a:p>
          <a:p>
            <a:pPr algn="l" lvl="1"/>
            <a:r>
              <a:rPr sz="1600" b="0">
                <a:solidFill>
                  <a:srgbClr val="E3554F"/>
                </a:solidFill>
                <a:latin typeface="Segoe UI"/>
              </a:rPr>
              <a:t>– FAIL_OVER_1200: filtrirani &gt; 1200 ili sirovi &gt; 1250 (zaštita od šiljaka)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FAIL_TIMEOUT: pokušaj dulji od 60 s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Nova runda: pomak knoba (uz re-arm na mirovanju) ili gumb (puna rekalibracija)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Bez blokirajućeg delay() u cijeloj logici — millis() raspoređivanje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ISR-ovi postavljaju samo volatile zastavice (siguran ISR dizajn)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ESP-NOW komunikacija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3A8C4"/>
                </a:solidFill>
                <a:latin typeface="Segoe UI"/>
              </a:rPr>
              <a:t>bez uparivanja MAC adresa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766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Broadcast FF:FF:FF:FF:FF:FF, 40 Hz — Display ne treba nikakvu konfiguraciju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Problem: ESP-NOW mora biti na istom kanalu kao Wi-Fi Controllera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Controller: kanal prati Wi-Fi; offline = fiksni kanal 1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Display: skenira kanale 1–13 (300 ms/kanal), lock nakon 3 valjana paketa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gubitak &gt; 1 s → NO SIGNAL; &gt; 3 s → automatski re-scan i re-lock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Paket 48 B: magic 0x5342, verzija, redni broj, XOR checksum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neispravni paketi se odbacuju i broje; layout čuva static_assert na obje strane</a:t>
            </a:r>
          </a:p>
          <a:p>
            <a:pPr algn="l"/>
            <a:r>
              <a:rPr sz="1800" b="0">
                <a:solidFill>
                  <a:srgbClr val="F4CA40"/>
                </a:solidFill>
                <a:latin typeface="Segoe UI"/>
              </a:rPr>
              <a:t>• Display NIKAD ne ide u deep sleep — radio bi prestao slušati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280160"/>
            <a:ext cx="4206240" cy="4937760"/>
          </a:xfrm>
          <a:prstGeom prst="rect">
            <a:avLst/>
          </a:prstGeom>
          <a:solidFill>
            <a:srgbClr val="122A47"/>
          </a:solidFill>
          <a:ln w="19050">
            <a:solidFill>
              <a:srgbClr val="41B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3A8C4"/>
                </a:solidFill>
              </a:rPr>
              <a:t>[ SLIKA: foto-igra.jpg ]
display s igrom uživo (ACTIVE)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Wi-Fi provisioning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3A8C4"/>
                </a:solidFill>
                <a:latin typeface="Segoe UI"/>
              </a:rPr>
              <a:t>captive portal — bez hardkodiranih lozinki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766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Spremljena mreža → spajanje 15 s → online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Bez spremljene mreže → AP 'SpiroBird-Setup' + captive portal (192.168.4.1)</a:t>
            </a:r>
          </a:p>
          <a:p>
            <a:pPr algn="l" lvl="1"/>
            <a:r>
              <a:rPr sz="1400" b="0">
                <a:solidFill>
                  <a:srgbClr val="93A8C4"/>
                </a:solidFill>
                <a:latin typeface="Segoe UI"/>
              </a:rPr>
              <a:t>– Display istovremeno prikazuje upute (status stiže ESP-NOW-om!)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Spremljena mreža nedostupna → korisnik bira na gumbu:</a:t>
            </a:r>
          </a:p>
          <a:p>
            <a:pPr algn="l" lvl="1"/>
            <a:r>
              <a:rPr sz="1400" b="0">
                <a:solidFill>
                  <a:srgbClr val="41B9D5"/>
                </a:solidFill>
                <a:latin typeface="Segoe UI"/>
              </a:rPr>
              <a:t>– kratki pritisak = igraj OFFLINE   ·   dugi (1 s) = otvori portal</a:t>
            </a:r>
          </a:p>
          <a:p>
            <a:pPr algn="l" lvl="1"/>
            <a:r>
              <a:rPr sz="1400" b="0">
                <a:solidFill>
                  <a:srgbClr val="93A8C4"/>
                </a:solidFill>
                <a:latin typeface="Segoe UI"/>
              </a:rPr>
              <a:t>– display crta progress bar držanja gumba uživo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Gumb držan pri uključivanju → portal odmah (promjena mreže)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Gubitak veze u radu: max 2 pokušaja pa trajni offline (štiti ESP-NOW kanal)</a:t>
            </a:r>
          </a:p>
          <a:p>
            <a:pPr algn="l"/>
            <a:r>
              <a:rPr sz="1600" b="0">
                <a:solidFill>
                  <a:srgbClr val="38C172"/>
                </a:solidFill>
                <a:latin typeface="Segoe UI"/>
              </a:rPr>
              <a:t>• OFFLINE je deterministično, terminalno stanje — demo se ne može 'zaglaviti'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280160"/>
            <a:ext cx="4206240" cy="2377440"/>
          </a:xfrm>
          <a:prstGeom prst="rect">
            <a:avLst/>
          </a:prstGeom>
          <a:solidFill>
            <a:srgbClr val="122A47"/>
          </a:solidFill>
          <a:ln w="19050">
            <a:solidFill>
              <a:srgbClr val="41B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3A8C4"/>
                </a:solidFill>
              </a:rPr>
              <a:t>[ SLIKA: foto-decision.jpg ]
decision ekran (kratki/dugi pritisak)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3840480"/>
            <a:ext cx="4206240" cy="2377440"/>
          </a:xfrm>
          <a:prstGeom prst="rect">
            <a:avLst/>
          </a:prstGeom>
          <a:solidFill>
            <a:srgbClr val="122A47"/>
          </a:solidFill>
          <a:ln w="19050">
            <a:solidFill>
              <a:srgbClr val="41B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3A8C4"/>
                </a:solidFill>
              </a:rPr>
              <a:t>[ SLIKA: screenshot-portal.png ]
captive portal na mobitelu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Igra na displayu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3A8C4"/>
                </a:solidFill>
                <a:latin typeface="Segoe UI"/>
              </a:rPr>
              <a:t>LovyanGFX · 30 FPS · double buffering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Full-screen sprite 320×240 @ 8bpp (76.8 KB) → bez treperenja, 1 SPI push po frameu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Ptica prati filtrirani protok s inercijom (spring + damping fizika)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Linije 600/900/1200, ciljni koridor, kozmetičke cijevi, stability bar 0–5 s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HUD: protok, volumen, stable timer + Wi-Fi/server status (javlja Controller)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Ekrani za sva stanja: kalibracija s coachingom, uspjeh/neuspjeh, rezultat, sleep…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Fake-demo mod: bez Controllera nakon 8 s vrti cijelu demo partiju (testiranje)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Pseudo sleep: 1 min → dim, +15 s → backlight off; buđenje DODIROM ili aktivnošću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Haptika i statusna indikacija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CA40"/>
                </a:solidFill>
                <a:latin typeface="Segoe UI"/>
              </a:rPr>
              <a:t>• Vibracijski motor (pattern engine, non-blocking):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upozorenje (izlazak iz zone / blizu 1200): 300 ms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uspjeh: 500 ms 'win' puls   ·   neuspjeh: uzorak 3 × 600 ms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sigurnost: tvrdi limit segmenta 1000 ms, cooldown 400 ms, pin LOW prva instrukcija boota, sinkroni boot self-test</a:t>
            </a:r>
          </a:p>
          <a:p>
            <a:pPr algn="l"/>
            <a:r>
              <a:rPr sz="1800" b="0">
                <a:solidFill>
                  <a:srgbClr val="F4CA40"/>
                </a:solidFill>
                <a:latin typeface="Segoe UI"/>
              </a:rPr>
              <a:t>• RGB LED po stanju: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plava=IDLE · ljubičasta=kalibracija · žuta=READY · zelena=ACTIVE/uspjeh · crvena=FAIL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Buzzer eliminiran nakon testiranja (neispravna komponenta) — kod ostaje iza zastavice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Upravljanje potrošnjom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CA40"/>
                </a:solidFill>
                <a:latin typeface="Segoe UI"/>
              </a:rPr>
              <a:t>• Controller: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60 s bez inputa → pseudo sleep (iz BILO KOJEG stanja)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3 min → pravi deep sleep (esp_deep_sleep_start)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buđenje: gumb (RTC EXT0 — radi i iz deep sleepa), pomak knoba (debounce 50 ms)</a:t>
            </a:r>
          </a:p>
          <a:p>
            <a:pPr algn="l"/>
            <a:r>
              <a:rPr sz="1800" b="0">
                <a:solidFill>
                  <a:srgbClr val="F4CA40"/>
                </a:solidFill>
                <a:latin typeface="Segoe UI"/>
              </a:rPr>
              <a:t>• Display: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1 min → prigušenje, +15 s → backlight ugašen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buđenje: dodir ekrana (FT6336G) ili automatski na aktivnost igre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deep sleep NAMJERNO izostavljen — ESP-NOW prijemnik mora uvijek slušati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Neaktivnost = isključivo input (pomak/gumb/događaji) — nijedno stanje ne drži uređaj budnim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4572000"/>
            <a:ext cx="3291840" cy="1828800"/>
          </a:xfrm>
          <a:prstGeom prst="rect">
            <a:avLst/>
          </a:prstGeom>
          <a:solidFill>
            <a:srgbClr val="122A47"/>
          </a:solidFill>
          <a:ln w="19050">
            <a:solidFill>
              <a:srgbClr val="41B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3A8C4"/>
                </a:solidFill>
              </a:rPr>
              <a:t>[ SLIKA: foto-sleep.jpg ]
sleep ekran (opcionalno)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Backend i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3A8C4"/>
                </a:solidFill>
                <a:latin typeface="Segoe UI"/>
              </a:rPr>
              <a:t>Node.js / Express · Render.com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64008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REST API: /health · POST/GET/DELETE /api/results · /api/highscore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Pohrana: results.json (atomični upisi); dokumentirano ograničenje free tiera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Dashboard: kartice (najbolji volumen, uspješnost), tablica, auto-refresh 3 s</a:t>
            </a:r>
          </a:p>
          <a:p>
            <a:pPr algn="l"/>
            <a:r>
              <a:rPr sz="1600" b="1">
                <a:solidFill>
                  <a:srgbClr val="38C172"/>
                </a:solidFill>
                <a:latin typeface="Segoe UI"/>
              </a:rPr>
              <a:t>• JAVNO U PRODUKCIJI: https://spirobird.onrender.com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Controller POST-a samo nakon SUCCESS/FAIL — nikad tijekom igre; timeout 1500 ms + retry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280160"/>
            <a:ext cx="4572000" cy="4937760"/>
          </a:xfrm>
          <a:prstGeom prst="rect">
            <a:avLst/>
          </a:prstGeom>
          <a:solidFill>
            <a:srgbClr val="122A47"/>
          </a:solidFill>
          <a:ln w="19050">
            <a:solidFill>
              <a:srgbClr val="41B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3A8C4"/>
                </a:solidFill>
              </a:rPr>
              <a:t>[ SLIKA: screenshot-dashboard.png ]
dashboard s pravim rezultatima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Verifikacija i testiranje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F4CA40"/>
                </a:solidFill>
                <a:latin typeface="Segoe UI"/>
              </a:rPr>
              <a:t>• Simulacija PRIJE hardvera (Python, 1:1 port logike):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23 unit testa: EMA, mapiranje, stabilnost, volumen, uspjeh/fail, protokol (48 B + checksum)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5 scenarija s ispisom tranzicija — identičan format kao firmware Serial</a:t>
            </a:r>
          </a:p>
          <a:p>
            <a:pPr algn="l"/>
            <a:r>
              <a:rPr sz="1800" b="0">
                <a:solidFill>
                  <a:srgbClr val="F4CA40"/>
                </a:solidFill>
                <a:latin typeface="Segoe UI"/>
              </a:rPr>
              <a:t>• Bring-up na hardveru strogo po koracima: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senzor → aktuatori → backend → display → ESP-NOW → puna igra → sleep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8 pronađenih i riješenih problema — svi dokumentirani (simptom→uzrok→rješenje)</a:t>
            </a:r>
          </a:p>
          <a:p>
            <a:pPr algn="l"/>
            <a:r>
              <a:rPr sz="1800" b="0">
                <a:solidFill>
                  <a:srgbClr val="38C172"/>
                </a:solidFill>
                <a:latin typeface="Segoe UI"/>
              </a:rPr>
              <a:t>• Statistika igranja: 29 pokušaja, 66 % uspješnosti, najbolji volumen 17.5 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Tri najpoučnija problema s hardvera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93A8C4"/>
                </a:solidFill>
                <a:latin typeface="Segoe UI"/>
              </a:rPr>
              <a:t>materijal za diskusiju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E3554F"/>
                </a:solidFill>
                <a:latin typeface="Segoe UI"/>
              </a:rPr>
              <a:t>• 1. Motor se vrtio neprekidno od boota</a:t>
            </a:r>
          </a:p>
          <a:p>
            <a:pPr algn="l" lvl="1"/>
            <a:r>
              <a:rPr sz="1400" b="0">
                <a:solidFill>
                  <a:srgbClr val="93A8C4"/>
                </a:solidFill>
                <a:latin typeface="Segoe UI"/>
              </a:rPr>
              <a:t>– async puls + watchdog u loop() koji se ne vrti dok setup() blokira na Wi-Fi portalu</a:t>
            </a:r>
          </a:p>
          <a:p>
            <a:pPr algn="l" lvl="1"/>
            <a:r>
              <a:rPr sz="1400" b="0">
                <a:solidFill>
                  <a:srgbClr val="38C172"/>
                </a:solidFill>
                <a:latin typeface="Segoe UI"/>
              </a:rPr>
              <a:t>– pouka: sigurnosna logika ne smije ovisiti o glavnoj petlji → sinkroni self-test</a:t>
            </a:r>
          </a:p>
          <a:p>
            <a:pPr algn="l"/>
            <a:r>
              <a:rPr sz="1600" b="1">
                <a:solidFill>
                  <a:srgbClr val="E3554F"/>
                </a:solidFill>
                <a:latin typeface="Segoe UI"/>
              </a:rPr>
              <a:t>• 2. Display u petlji hvata/gubi ESP-NOW signal</a:t>
            </a:r>
          </a:p>
          <a:p>
            <a:pPr algn="l" lvl="1"/>
            <a:r>
              <a:rPr sz="1400" b="0">
                <a:solidFill>
                  <a:srgbClr val="93A8C4"/>
                </a:solidFill>
                <a:latin typeface="Segoe UI"/>
              </a:rPr>
              <a:t>– Wi-Fi auto-reconnect skenira kanale i 'vuče' ESP-NOW TX kanal sa sobom</a:t>
            </a:r>
          </a:p>
          <a:p>
            <a:pPr algn="l" lvl="1"/>
            <a:r>
              <a:rPr sz="1400" b="0">
                <a:solidFill>
                  <a:srgbClr val="38C172"/>
                </a:solidFill>
                <a:latin typeface="Segoe UI"/>
              </a:rPr>
              <a:t>– pouka: deterministička stanja umjesto pozadinskih retrya → offline = terminalno</a:t>
            </a:r>
          </a:p>
          <a:p>
            <a:pPr algn="l"/>
            <a:r>
              <a:rPr sz="1600" b="1">
                <a:solidFill>
                  <a:srgbClr val="E3554F"/>
                </a:solidFill>
                <a:latin typeface="Segoe UI"/>
              </a:rPr>
              <a:t>• 3. TFT_eSPI StoreProhibited crash na ESP32-S3</a:t>
            </a:r>
          </a:p>
          <a:p>
            <a:pPr algn="l" lvl="1"/>
            <a:r>
              <a:rPr sz="1400" b="0">
                <a:solidFill>
                  <a:srgbClr val="93A8C4"/>
                </a:solidFill>
                <a:latin typeface="Segoe UI"/>
              </a:rPr>
              <a:t>– poznati neriješeni bug biblioteke (issue #3743) — plan rizika je predvidio fallback</a:t>
            </a:r>
          </a:p>
          <a:p>
            <a:pPr algn="l" lvl="1"/>
            <a:r>
              <a:rPr sz="1400" b="0">
                <a:solidFill>
                  <a:srgbClr val="38C172"/>
                </a:solidFill>
                <a:latin typeface="Segoe UI"/>
              </a:rPr>
              <a:t>– pouka: za svaki rizik unaprijed imati izlaz → migracija na LovyanGFX u 1 commitu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Git proces i kolaboracija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5836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35+ atomičkih commitova s opisnim porukama — povijest priča razvoj uključujući bugfixeve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Stabilan main + feature grane; branch protection (PR obavezan za merge)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Pull requestovi s opisima, code review i merge po ulogama članova tima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Wiki: opis zadatka, analiza zahtjeva (45+ zahtjeva), use-case + sekvencijski dijagrami, arhitektura (dijagrami razreda/stanja/aktivnosti u Mermaidu)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docs/: plan, ožičenje, protokol, plan testiranja, izvještaji, troubleshooting</a:t>
            </a:r>
          </a:p>
          <a:p>
            <a:pPr algn="l"/>
            <a:r>
              <a:rPr sz="1600" b="0">
                <a:solidFill>
                  <a:srgbClr val="E8EEF6"/>
                </a:solidFill>
                <a:latin typeface="Segoe UI"/>
              </a:rPr>
              <a:t>• Prezentacija (ova!) committana u repo — uključujući generator (build_pptx.py)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0" y="1280160"/>
            <a:ext cx="4389120" cy="4937760"/>
          </a:xfrm>
          <a:prstGeom prst="rect">
            <a:avLst/>
          </a:prstGeom>
          <a:solidFill>
            <a:srgbClr val="122A47"/>
          </a:solidFill>
          <a:ln w="19050">
            <a:solidFill>
              <a:srgbClr val="41B9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>
                <a:solidFill>
                  <a:srgbClr val="93A8C4"/>
                </a:solidFill>
              </a:rPr>
              <a:t>[ SLIKA: screenshot-github.png ]
GitHub: mergani PR-ovi / network graph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Plan demonstracije uživo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1. Uključivanje → kalibracija s coachingom na ekranu (CENTER the knob)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2. Uspješna vježba: zona 900–1200, stability bar → SUCCESS + vibracija + LED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3. Rezultat na javnom dashboardu (spirobird.onrender.com) u stvarnom vremenu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4. Neuspjeh: protok preko 1200 → crveno nebo, FAIL + 3 vibracije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5. Otpornost: gašenje Displaya i ponovno uključenje → automatski re-lock kanala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6. Sleep: 60 s mirovanja → pseudo sleep; dodir budi ekran; gumb budi Controller</a:t>
            </a:r>
          </a:p>
          <a:p>
            <a:pPr algn="l" lvl="1"/>
            <a:r>
              <a:rPr sz="1600" b="0">
                <a:solidFill>
                  <a:srgbClr val="F4CA40"/>
                </a:solidFill>
                <a:latin typeface="Segoe UI"/>
              </a:rPr>
              <a:t>– rezerva: offline mod — sve radi i bez interneta (ako Wi-Fi na fakultetu zakaže)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4CA40"/>
                </a:solidFill>
                <a:latin typeface="Segoe UI"/>
              </a:rPr>
              <a:t>Zaključak i moguće nadogradnje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2011680" cy="38100"/>
          </a:xfrm>
          <a:prstGeom prst="rect">
            <a:avLst/>
          </a:prstGeom>
          <a:solidFill>
            <a:srgbClr val="41B9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38C172"/>
                </a:solidFill>
                <a:latin typeface="Segoe UI"/>
              </a:rPr>
              <a:t>• Sustav je u potpunosti implementiran i validiran na stvarnom hardveru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Demonstrirani elementi ugradbenih sustava: ADC, prekidi + ISR zastavice, event-driven dizajn bez delay(), state machine, PWM/LEDC, NVS, watchdog guardovi, bežični protokoli, sleep modovi</a:t>
            </a:r>
          </a:p>
          <a:p>
            <a:pPr algn="l"/>
            <a:r>
              <a:rPr sz="1800" b="0">
                <a:solidFill>
                  <a:srgbClr val="F4CA40"/>
                </a:solidFill>
                <a:latin typeface="Segoe UI"/>
              </a:rPr>
              <a:t>• Nadogradnje: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stvarni senzor protoka daha (diferencijalni tlak) — zamjena u jednom modulu</a:t>
            </a:r>
          </a:p>
          <a:p>
            <a:pPr algn="l" lvl="1"/>
            <a:r>
              <a:rPr sz="1600" b="0">
                <a:solidFill>
                  <a:srgbClr val="93A8C4"/>
                </a:solidFill>
                <a:latin typeface="Segoe UI"/>
              </a:rPr>
              <a:t>– korisnički profili, trajna baza, BLE aplikacija, OTA, 3D kućište</a:t>
            </a:r>
          </a:p>
          <a:p>
            <a:pPr algn="l"/>
            <a:r>
              <a:rPr sz="1800" b="0">
                <a:solidFill>
                  <a:srgbClr val="E8EEF6"/>
                </a:solidFill>
                <a:latin typeface="Segoe UI"/>
              </a:rPr>
              <a:t>• </a:t>
            </a:r>
          </a:p>
          <a:p>
            <a:pPr algn="l"/>
            <a:r>
              <a:rPr sz="1800" b="1">
                <a:solidFill>
                  <a:srgbClr val="F4CA40"/>
                </a:solidFill>
                <a:latin typeface="Segoe UI"/>
              </a:rPr>
              <a:t>• Hvala na pažnji — pitanja?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
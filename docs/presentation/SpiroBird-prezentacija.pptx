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83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4630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4CA40"/>
                </a:solidFill>
                <a:latin typeface="Segoe UI"/>
              </a:rPr>
              <a:t>SpiroBird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E8EEF6"/>
                </a:solidFill>
                <a:latin typeface="Segoe UI"/>
              </a:rPr>
              <a:t>IoT digitalni spirometar u obliku igre u stilu Flappy Bird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Razvoj ugradbenih sustava · ak. god. 2025./2026. · Tehničko veleučilište u Zagrebu</a:t>
            </a:r>
          </a:p>
          <a:p>
            <a:pPr algn="l"/>
            <a:endParaRPr sz="1600" b="0">
              <a:solidFill>
                <a:srgbClr val="93A8C4"/>
              </a:solidFill>
              <a:latin typeface="Segoe UI"/>
            </a:endParaRP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Hrvoje Renato Šokčić — razvoj softverskog rješenja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Ivan Benčić — simulacija          Domagoj Lepen — testiranje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Sven Gavranović — dokumentacija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Problem i motivacija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Poticajna spirometrija = standardna respiratorna vježba (rehabilitacija, KOPB, postoperativno)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vježbe su monotone → pacijenti ih preskaču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mehanički spirometri (kuglice) ne daju mjerljive podatke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Ideja: pretvoriti vježbu u igru s mjerljivim, trajno pohranjenim rezultatima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Korisnik 'dahom' upravlja pticom — cilj: stabilan protok u medicinskoj zoni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pragovi 600 / 900 / 1200 ml/s preuzeti iz medicinskih smjernica</a:t>
            </a:r>
          </a:p>
          <a:p>
            <a:pPr lvl="1" algn="l"/>
            <a:r>
              <a:rPr sz="1600" b="0">
                <a:solidFill>
                  <a:srgbClr val="38C172"/>
                </a:solidFill>
                <a:latin typeface="Segoe UI"/>
              </a:rPr>
              <a:t>– uspjeh = protok 900–1200 ml/s stabilno NEPREKIDNO 5 sekundi</a:t>
            </a:r>
          </a:p>
          <a:p>
            <a:pPr lvl="1" algn="l"/>
            <a:r>
              <a:rPr sz="1600" b="0">
                <a:solidFill>
                  <a:srgbClr val="E3554F"/>
                </a:solidFill>
                <a:latin typeface="Segoe UI"/>
              </a:rPr>
              <a:t>– protok &gt; 1200 ml/s = trenutni neuspjeh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U prototipu dah emulira potenciometar — signalni put identičan stvarnom senzoru protoka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Arhitektura sustava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dva fizička ESP32-S3 + backend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3058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9494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CA40"/>
                </a:solidFill>
                <a:latin typeface="Segoe UI"/>
              </a:rPr>
              <a:t>• CONTROLLER / MASTER (ESP32-S3-N16R8)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jedini izvor istine: senzor, logika vježbe, aktuatori, Wi-Fi, NVS</a:t>
            </a:r>
          </a:p>
          <a:p>
            <a:pPr algn="l"/>
            <a:r>
              <a:rPr sz="1600" b="1">
                <a:solidFill>
                  <a:srgbClr val="F4CA40"/>
                </a:solidFill>
                <a:latin typeface="Segoe UI"/>
              </a:rPr>
              <a:t>• DISPLAY / SLAVE (ESP32-S3 + 2.8" ILI9341V + kapacitivni touch)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isključivo renderira primljeno — ne spaja se na Wi-Fi, nema touch izbornike</a:t>
            </a:r>
          </a:p>
          <a:p>
            <a:pPr algn="l"/>
            <a:r>
              <a:rPr sz="1600" b="0">
                <a:solidFill>
                  <a:srgbClr val="41B9D5"/>
                </a:solidFill>
                <a:latin typeface="Segoe UI"/>
              </a:rPr>
              <a:t>• ESP-NOW broadcast 40 Hz (48 B paket: magic + verzija + seq + checksum)</a:t>
            </a:r>
          </a:p>
          <a:p>
            <a:pPr algn="l"/>
            <a:r>
              <a:rPr sz="1600" b="0">
                <a:solidFill>
                  <a:srgbClr val="41B9D5"/>
                </a:solidFill>
                <a:latin typeface="Segoe UI"/>
              </a:rPr>
              <a:t>• BACKEND: Node.js/Express + dashboard — javno na spirobird.onrender.com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HTTP POST rezultata SAMO nakon završetka pokušaja, timeout 1500 ms</a:t>
            </a:r>
          </a:p>
          <a:p>
            <a:pPr algn="l"/>
            <a:r>
              <a:rPr sz="1600" b="1">
                <a:solidFill>
                  <a:srgbClr val="38C172"/>
                </a:solidFill>
                <a:latin typeface="Segoe UI"/>
              </a:rPr>
              <a:t>• Offline-first: bez Wi-Fi-ja i servera igra radi potpuno normalno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63040"/>
            <a:ext cx="4206240" cy="105156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F4C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4CA40"/>
                </a:solidFill>
              </a:rPr>
              <a:t>CONTROLLER / MASTER  (ESP32-S3)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potenciometar · motor · LED · logika vježbe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Wi-Fi + NVS · izvor istine</a:t>
            </a:r>
          </a:p>
        </p:txBody>
      </p:sp>
      <p:sp>
        <p:nvSpPr>
          <p:cNvPr id="7" name="Down Arrow 6"/>
          <p:cNvSpPr/>
          <p:nvPr/>
        </p:nvSpPr>
        <p:spPr>
          <a:xfrm>
            <a:off x="8394192" y="2560320"/>
            <a:ext cx="219456" cy="685800"/>
          </a:xfrm>
          <a:prstGeom prst="downArrow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0" y="267462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3A8C4"/>
                </a:solidFill>
                <a:latin typeface="Segoe UI"/>
              </a:rPr>
              <a:t>ESP-NOW
48 B @ 40 Hz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314432" y="2560320"/>
            <a:ext cx="219456" cy="685800"/>
          </a:xfrm>
          <a:prstGeom prst="downArrow">
            <a:avLst/>
          </a:prstGeom>
          <a:solidFill>
            <a:srgbClr val="38C1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0" y="267462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3A8C4"/>
                </a:solidFill>
                <a:latin typeface="Segoe UI"/>
              </a:rPr>
              <a:t>HTTPS POST
(nakon pokušaja)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291840"/>
            <a:ext cx="1965960" cy="137160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41B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41B9D5"/>
                </a:solidFill>
              </a:rPr>
              <a:t>DISPLAY / SLAVE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2.8" TFT + touch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channel scan/lock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samo render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3291840"/>
            <a:ext cx="1965960" cy="137160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38C1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38C172"/>
                </a:solidFill>
              </a:rPr>
              <a:t>BACKEND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Node.js / Express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spirobird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475488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93A8C4"/>
                </a:solidFill>
                <a:latin typeface="Segoe UI"/>
              </a:rPr>
              <a:t>Display se NIKAD ne spaja na Wi-Fi — samo sluša ESP-NOW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Hardver i ožičenje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Potenciometar B10K → ADC GPIO4 (emulator protoka daha)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Vibro motor preko NPN 2N2222A: 1 kΩ baza, 10 kΩ pull-down, flyback dioda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Wake gumb GPIO21 (start / skip portala / buđenje iz deep sleepa — RTC EXT0)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Onboard WS2812 RGB LED — statusna indikacija stanja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Napajanje 5 V / 1 A, zajednički GND; motor (3 V) na 5 V samo u kratkim pulsevima</a:t>
            </a:r>
          </a:p>
        </p:txBody>
      </p:sp>
      <p:pic>
        <p:nvPicPr>
          <p:cNvPr id="6" name="Picture 5" descr="foto-set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01982"/>
            <a:ext cx="6436622" cy="30991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6BF6BA-6B30-D7A2-6674-64539C5C6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1437" y="960120"/>
            <a:ext cx="4772553" cy="47695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814FB0-79F6-D485-397B-EE967EC64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9559F1-7DCA-D187-2E1F-E70984129374}"/>
              </a:ext>
            </a:extLst>
          </p:cNvPr>
          <p:cNvSpPr txBox="1"/>
          <p:nvPr/>
        </p:nvSpPr>
        <p:spPr>
          <a:xfrm>
            <a:off x="457200" y="228600"/>
            <a:ext cx="112471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3200" b="1" dirty="0">
                <a:solidFill>
                  <a:srgbClr val="F4CA40"/>
                </a:solidFill>
                <a:latin typeface="Segoe UI"/>
              </a:rPr>
              <a:t>3D </a:t>
            </a:r>
            <a:r>
              <a:rPr lang="en-US" sz="3200" b="1" dirty="0" err="1">
                <a:solidFill>
                  <a:srgbClr val="F4CA40"/>
                </a:solidFill>
                <a:latin typeface="Segoe UI"/>
              </a:rPr>
              <a:t>printano</a:t>
            </a:r>
            <a:r>
              <a:rPr lang="en-US" sz="3200" b="1" dirty="0">
                <a:solidFill>
                  <a:srgbClr val="F4CA40"/>
                </a:solidFill>
                <a:latin typeface="Segoe UI"/>
              </a:rPr>
              <a:t> </a:t>
            </a:r>
            <a:r>
              <a:rPr lang="en-US" sz="3200" b="1" dirty="0" err="1">
                <a:solidFill>
                  <a:srgbClr val="F4CA40"/>
                </a:solidFill>
                <a:latin typeface="Segoe UI"/>
              </a:rPr>
              <a:t>kućište</a:t>
            </a:r>
            <a:endParaRPr sz="3200" b="1" dirty="0">
              <a:solidFill>
                <a:srgbClr val="F4CA4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A58628-56FC-7F71-455D-D9AC06EBD5E0}"/>
              </a:ext>
            </a:extLst>
          </p:cNvPr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D4114-6DF8-AFFB-51AF-F61F9F202841}"/>
              </a:ext>
            </a:extLst>
          </p:cNvPr>
          <p:cNvSpPr txBox="1"/>
          <p:nvPr/>
        </p:nvSpPr>
        <p:spPr>
          <a:xfrm>
            <a:off x="456257" y="1362173"/>
            <a:ext cx="270172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E8EEF6"/>
                </a:solidFill>
                <a:latin typeface="Segoe UI"/>
              </a:rPr>
              <a:t>MASTER 92×80×48 mm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E8EEF6"/>
                </a:solidFill>
                <a:latin typeface="Segoe UI"/>
              </a:rPr>
              <a:t>SLAVE 58×96×30 mm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E8EEF6"/>
                </a:solidFill>
                <a:latin typeface="Segoe UI"/>
              </a:rPr>
              <a:t>matte </a:t>
            </a:r>
            <a:r>
              <a:rPr lang="en-US" sz="1600" dirty="0" err="1">
                <a:solidFill>
                  <a:srgbClr val="E8EEF6"/>
                </a:solidFill>
                <a:latin typeface="Segoe UI"/>
              </a:rPr>
              <a:t>crni</a:t>
            </a:r>
            <a:r>
              <a:rPr lang="en-US" sz="1600" dirty="0">
                <a:solidFill>
                  <a:srgbClr val="E8EEF6"/>
                </a:solidFill>
                <a:latin typeface="Segoe UI"/>
              </a:rPr>
              <a:t> PLA</a:t>
            </a:r>
            <a:endParaRPr sz="1600" b="0" dirty="0">
              <a:solidFill>
                <a:srgbClr val="E8EEF6"/>
              </a:solidFill>
              <a:latin typeface="Segoe U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64A6B3-20AC-55EF-B560-528A65DF5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" y="2511034"/>
            <a:ext cx="6209216" cy="33868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3DB4D8B-4AAD-FBDE-BACE-8AA3A726D5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880" y="160256"/>
            <a:ext cx="4043404" cy="30325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847D17-21A7-38DB-9CE7-AE8088047F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587" y="3192810"/>
            <a:ext cx="5894014" cy="3214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404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Obrada signala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93A8C4"/>
                </a:solidFill>
                <a:latin typeface="Segoe UI"/>
              </a:rPr>
              <a:t>ADC →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protok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u ml/s, 100 Hz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8486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Uzorkovanje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100 Hz,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usrednjavanje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4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uzorka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korisni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ADC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raspon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200–3900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Kalibracija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fiksnim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centrom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knob u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zoni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1700–2300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držan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2 s →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nul-točka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= 2000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display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uživo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navodi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korisnika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: 'turn UP / turn DOWN / hold it right there!'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Deadzone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±70 →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otklon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se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linearno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mapira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u 0–1400 ml/s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EMA filter (α = 0.20) —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uklanja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šum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bez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osjetnog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kašnjenja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Stabilnost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ring buffer 500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ms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peak-to-peak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varijacija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&lt; 180 ml/s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Volumen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numeričkom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integracijom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V +=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protok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× dt</a:t>
            </a:r>
          </a:p>
          <a:p>
            <a:pPr lvl="1" algn="l"/>
            <a:r>
              <a:rPr sz="1600" b="0" dirty="0">
                <a:solidFill>
                  <a:srgbClr val="38C172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38C172"/>
                </a:solidFill>
                <a:latin typeface="Segoe UI"/>
              </a:rPr>
              <a:t>izmjereni</a:t>
            </a:r>
            <a:r>
              <a:rPr sz="1600" b="0" dirty="0">
                <a:solidFill>
                  <a:srgbClr val="38C172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38C172"/>
                </a:solidFill>
                <a:latin typeface="Segoe UI"/>
              </a:rPr>
              <a:t>šum</a:t>
            </a:r>
            <a:r>
              <a:rPr sz="1600" b="0" dirty="0">
                <a:solidFill>
                  <a:srgbClr val="38C172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38C172"/>
                </a:solidFill>
                <a:latin typeface="Segoe UI"/>
              </a:rPr>
              <a:t>na</a:t>
            </a:r>
            <a:r>
              <a:rPr sz="1600" b="0" dirty="0">
                <a:solidFill>
                  <a:srgbClr val="38C172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38C172"/>
                </a:solidFill>
                <a:latin typeface="Segoe UI"/>
              </a:rPr>
              <a:t>hardveru</a:t>
            </a:r>
            <a:r>
              <a:rPr sz="1600" b="0" dirty="0">
                <a:solidFill>
                  <a:srgbClr val="38C172"/>
                </a:solidFill>
                <a:latin typeface="Segoe UI"/>
              </a:rPr>
              <a:t>: p2p &lt; 2 ml/s — </a:t>
            </a:r>
            <a:r>
              <a:rPr sz="1600" b="0" dirty="0" err="1">
                <a:solidFill>
                  <a:srgbClr val="38C172"/>
                </a:solidFill>
                <a:latin typeface="Segoe UI"/>
              </a:rPr>
              <a:t>izvrsno</a:t>
            </a:r>
            <a:endParaRPr sz="1600" b="0" dirty="0">
              <a:solidFill>
                <a:srgbClr val="38C172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Logika vježbe —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1B9D5"/>
                </a:solidFill>
                <a:latin typeface="Segoe UI"/>
              </a:rPr>
              <a:t>• IDLE → CALIBRATING → READY → ACTIVE → SUCCESS / FAIL → RESULT → IDLE  (+ SLEEP)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Svaka tranzicija se ispisuje na serijsku konzolu (dijagnostika)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ACTIVE: integracija volumena, praćenje max/prosjeka, stable timer 0→5000 ms</a:t>
            </a:r>
          </a:p>
          <a:p>
            <a:pPr lvl="1" algn="l"/>
            <a:r>
              <a:rPr sz="1600" b="0">
                <a:solidFill>
                  <a:srgbClr val="E3554F"/>
                </a:solidFill>
                <a:latin typeface="Segoe UI"/>
              </a:rPr>
              <a:t>– FAIL_OVER_1200: filtrirani &gt; 1200 ili sirovi &gt; 1250 (zaštita od šiljaka)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FAIL_TIMEOUT: pokušaj dulji od 60 s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Nova runda: pomak knoba (uz re-arm na mirovanju) ili gumb (puna rekalibracija)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Bez blokirajućeg delay() u cijeloj logici — millis() raspoređivanje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ISR-ovi postavljaju samo volatile zastavice (siguran ISR dizajn)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ESP-NOW komunikacija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bez uparivanja MAC adresa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0391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Broadcast FF:FF:FF:FF:FF:FF, 40 Hz — Display ne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treba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nikakvu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konfiguraciju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Problem: ESP-NOW mora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biti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istom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kanalu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Wi-Fi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Controllera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Controller: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kanal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prati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Wi-Fi; offline =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fiksni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kanal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1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Display: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skenira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kanale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1–13 (300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ms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/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kanal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), lock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nakon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3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valjana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paketa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gubitak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&gt; 1 s → NO SIGNAL; &gt; 3 s →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automatski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re-scan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re-lock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Paket 48 B: magic 0x5342,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verzija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redni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broj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XOR checksum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neispravni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paketi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se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odbacuju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broje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; layout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čuva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static_assert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obje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strane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F4CA40"/>
                </a:solidFill>
                <a:latin typeface="Segoe UI"/>
              </a:rPr>
              <a:t>• Display NIKAD ne ide u deep sleep — radio bi </a:t>
            </a:r>
            <a:r>
              <a:rPr sz="1800" b="0" dirty="0" err="1">
                <a:solidFill>
                  <a:srgbClr val="F4CA40"/>
                </a:solidFill>
                <a:latin typeface="Segoe UI"/>
              </a:rPr>
              <a:t>prestao</a:t>
            </a:r>
            <a:r>
              <a:rPr sz="1800" b="0" dirty="0">
                <a:solidFill>
                  <a:srgbClr val="F4CA40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F4CA40"/>
                </a:solidFill>
                <a:latin typeface="Segoe UI"/>
              </a:rPr>
              <a:t>slušati</a:t>
            </a:r>
            <a:endParaRPr sz="1800" b="0" dirty="0">
              <a:solidFill>
                <a:srgbClr val="F4CA40"/>
              </a:solidFill>
              <a:latin typeface="Segoe UI"/>
            </a:endParaRPr>
          </a:p>
        </p:txBody>
      </p:sp>
      <p:pic>
        <p:nvPicPr>
          <p:cNvPr id="6" name="Picture 5" descr="foto-ig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280160"/>
            <a:ext cx="42062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Wi-Fi provisioning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captive portal — bez hardkodiranih lozinki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80" y="80391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Spremljena mreža → spajanje 15 s → online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Bez spremljene mreže → AP 'SpiroBird-Setup' + captive portal (192.168.4.1)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Display istovremeno prikazuje upute (status stiže ESP-NOW-om!)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Spremljena mreža nedostupna → korisnik bira na gumbu:</a:t>
            </a:r>
          </a:p>
          <a:p>
            <a:pPr lvl="1" algn="l"/>
            <a:r>
              <a:rPr sz="1400" b="0">
                <a:solidFill>
                  <a:srgbClr val="41B9D5"/>
                </a:solidFill>
                <a:latin typeface="Segoe UI"/>
              </a:rPr>
              <a:t>– kratki pritisak = igraj OFFLINE   ·   dugi (1 s) = otvori portal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display crta progress bar držanja gumba uživo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Gumb držan pri uključivanju → portal odmah (promjena mreže)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Gubitak veze u radu: max 2 pokušaja pa trajni offline (štiti ESP-NOW kanal)</a:t>
            </a:r>
          </a:p>
          <a:p>
            <a:pPr algn="l"/>
            <a:r>
              <a:rPr sz="1600" b="0">
                <a:solidFill>
                  <a:srgbClr val="38C172"/>
                </a:solidFill>
                <a:latin typeface="Segoe UI"/>
              </a:rPr>
              <a:t>• OFFLINE je deterministično, terminalno stanje — demo se ne može 'zaglaviti'</a:t>
            </a:r>
          </a:p>
        </p:txBody>
      </p:sp>
      <p:pic>
        <p:nvPicPr>
          <p:cNvPr id="6" name="Picture 5" descr="foto-deci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113" y="4251960"/>
            <a:ext cx="4206240" cy="23774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1A9E2FC-6BCD-ED4C-E4FF-92C87A8C4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562" y="0"/>
            <a:ext cx="3009103" cy="6537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Igra na displayu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LovyanGFX · 30 FPS · double buffering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80" y="80391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Full-screen sprite 320×240 @ 8bpp (76.8 KB) → bez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treperenja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1 SPI push po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frameu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Ptica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prati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filtrirani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protok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inercijom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(spring + damping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fizika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)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Linije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600/900/1200,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ciljni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koridor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kozmetičke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cijevi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stability bar 0–5 s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HUD: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protok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volumen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stable timer + Wi-Fi/server status (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javlja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Controller)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Ekrani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za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sva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stanja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kalibracija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coachingom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uspjeh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/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neuspjeh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rezultat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sleep…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Fake-demo mod: bez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Controllera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nakon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8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vrti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cijelu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demo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partiju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(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testiranje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)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Pseudo sleep: 1 min → dim, +15 s → backlight off;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buđenje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DODIROM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ili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aktivnošću</a:t>
            </a:r>
            <a:endParaRPr sz="1800" b="0" dirty="0">
              <a:solidFill>
                <a:srgbClr val="E8EEF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Haptika i statusna indikacija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Vibracijski motor (pattern engine, non-blocking):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upozorenje (izlazak iz zone / blizu 1200): 300 ms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uspjeh: 500 ms 'win' puls   ·   neuspjeh: uzorak 3 × 600 ms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sigurnost: tvrdi limit segmenta 1000 ms, cooldown 400 ms, pin LOW prva instrukcija boota, sinkroni boot self-test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RGB LED po stanju: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plava=IDLE · ljubičasta=kalibracija · žuta=READY · zelena=ACTIVE/uspjeh · crvena=FAIL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Buzzer eliminiran nakon testiranja (neispravna komponenta) — kod ostaje iza zastavice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Upravljanje potrošnjom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F4CA40"/>
                </a:solidFill>
                <a:latin typeface="Segoe UI"/>
              </a:rPr>
              <a:t>• Controller: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60 s bez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inputa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→ pseudo sleep (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iz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BILO KOJEG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stanja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3 min →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pravi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deep sleep (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esp_deep_sleep_start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buđenje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: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gumb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(RTC EXT0 —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radi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iz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deep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sleepa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),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pomak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knoba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(debounce 50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ms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</a:t>
            </a:r>
          </a:p>
          <a:p>
            <a:pPr algn="l"/>
            <a:r>
              <a:rPr sz="1800" b="0" dirty="0">
                <a:solidFill>
                  <a:srgbClr val="F4CA40"/>
                </a:solidFill>
                <a:latin typeface="Segoe UI"/>
              </a:rPr>
              <a:t>• Display: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1 min →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prigušenje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, +15 s → backlight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ugašen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buđenje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: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dodir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ekrana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(FT6336G)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ili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automatski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aktivnost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igre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deep sleep NAMJERNO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izostavljen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— ESP-NOW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prijemnik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mora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uvijek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slušati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Neaktivnost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=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isključivo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input (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pomak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/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gumb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/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događaji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) —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nijedno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stanje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ne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drži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uređaj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budnim</a:t>
            </a:r>
            <a:endParaRPr sz="1800" b="0" dirty="0">
              <a:solidFill>
                <a:srgbClr val="E8EEF6"/>
              </a:solidFill>
              <a:latin typeface="Segoe UI"/>
            </a:endParaRPr>
          </a:p>
        </p:txBody>
      </p:sp>
      <p:pic>
        <p:nvPicPr>
          <p:cNvPr id="5" name="Picture 4" descr="foto-slee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4572000"/>
            <a:ext cx="32918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Backend i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Node.js / Express · Render.com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9739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REST API: /health · POST/GET/DELETE /api/results · /api/highscore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Pohrana: results.json (atomični upisi); dokumentirano ograničenje free tiera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Dashboard: kartice (najbolji volumen, uspješnost), tablica, auto-refresh 3 s</a:t>
            </a:r>
          </a:p>
          <a:p>
            <a:pPr algn="l"/>
            <a:r>
              <a:rPr sz="1600" b="1">
                <a:solidFill>
                  <a:srgbClr val="38C172"/>
                </a:solidFill>
                <a:latin typeface="Segoe UI"/>
              </a:rPr>
              <a:t>• JAVNO U PRODUKCIJI: https://spirobird.onrender.com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Controller POST-a samo nakon SUCCESS/FAIL — nikad tijekom igre; timeout 1500 ms + retry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9C6566-2672-C697-2846-5AF602F4D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280527"/>
            <a:ext cx="5667069" cy="34489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Verifikacija i testiranje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Simulacija PRIJE hardvera (Python, 1:1 port logike):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23 unit testa: EMA, mapiranje, stabilnost, volumen, uspjeh/fail, protokol (48 B + checksum)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5 scenarija s ispisom tranzicija — identičan format kao firmware Serial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Bring-up na hardveru strogo po koracima: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senzor → aktuatori → backend → display → ESP-NOW → puna igra → sleep</a:t>
            </a:r>
          </a:p>
          <a:p>
            <a:pPr lvl="1" algn="l"/>
            <a:r>
              <a:rPr sz="1600" b="0">
                <a:solidFill>
                  <a:srgbClr val="93A8C4"/>
                </a:solidFill>
                <a:latin typeface="Segoe UI"/>
              </a:rPr>
              <a:t>– 8 pronađenih i riješenih problema — svi dokumentirani (simptom→uzrok→rješenje)</a:t>
            </a:r>
          </a:p>
          <a:p>
            <a:pPr algn="l"/>
            <a:r>
              <a:rPr sz="1800" b="0">
                <a:solidFill>
                  <a:srgbClr val="38C172"/>
                </a:solidFill>
                <a:latin typeface="Segoe UI"/>
              </a:rPr>
              <a:t>• Statistika igranja: 29 pokušaja, 66 % uspješnosti, najbolji volumen 17.5 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Tri najpoučnija problema s hardvera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240" y="9982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materijal za diskusiju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80" y="81915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1. Motor se vrtio neprekidno od boota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async puls + watchdog u loop() koji se ne vrti dok setup() blokira na Wi-Fi portalu</a:t>
            </a:r>
          </a:p>
          <a:p>
            <a:pPr lvl="1" algn="l"/>
            <a:r>
              <a:rPr sz="1400" b="0">
                <a:solidFill>
                  <a:srgbClr val="38C172"/>
                </a:solidFill>
                <a:latin typeface="Segoe UI"/>
              </a:rPr>
              <a:t>– pouka: sigurnosna logika ne smije ovisiti o glavnoj petlji → sinkroni self-test</a:t>
            </a:r>
          </a:p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2. Display u petlji hvata/gubi ESP-NOW signal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Wi-Fi auto-reconnect skenira kanale i 'vuče' ESP-NOW TX kanal sa sobom</a:t>
            </a:r>
          </a:p>
          <a:p>
            <a:pPr lvl="1" algn="l"/>
            <a:r>
              <a:rPr sz="1400" b="0">
                <a:solidFill>
                  <a:srgbClr val="38C172"/>
                </a:solidFill>
                <a:latin typeface="Segoe UI"/>
              </a:rPr>
              <a:t>– pouka: deterministička stanja umjesto pozadinskih retrya → offline = terminalno</a:t>
            </a:r>
          </a:p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3. TFT_eSPI StoreProhibited crash na ESP32-S3</a:t>
            </a:r>
          </a:p>
          <a:p>
            <a:pPr lvl="1" algn="l"/>
            <a:r>
              <a:rPr sz="1400" b="0">
                <a:solidFill>
                  <a:srgbClr val="93A8C4"/>
                </a:solidFill>
                <a:latin typeface="Segoe UI"/>
              </a:rPr>
              <a:t>– poznati neriješeni bug biblioteke (issue #3743) — plan rizika je predvidio fallback</a:t>
            </a:r>
          </a:p>
          <a:p>
            <a:pPr lvl="1" algn="l"/>
            <a:r>
              <a:rPr sz="1400" b="0">
                <a:solidFill>
                  <a:srgbClr val="38C172"/>
                </a:solidFill>
                <a:latin typeface="Segoe UI"/>
              </a:rPr>
              <a:t>– pouka: za svaki rizik unaprijed imati izlaz → migracija na LovyanGFX u 1 commitu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Git proces i kolaboracija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18158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35+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atomičkih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commitova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opisnim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porukama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—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povijest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priča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razvoj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uključujući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bugfixeve</a:t>
            </a:r>
            <a:endParaRPr sz="16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Stabilan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main + feature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grane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; branch protection (PR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obavezan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za merge)</a:t>
            </a:r>
          </a:p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Pull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requestovi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opisima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code review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merge po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ulogama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članova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tima</a:t>
            </a:r>
            <a:endParaRPr sz="16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Wiki: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opis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zadatka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analiza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zahtjeva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(45+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zahtjeva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), use-case +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sekvencijski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dijagrami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arhitektura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(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dijagrami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razreda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/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stanja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/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aktivnosti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u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Mermaidu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)</a:t>
            </a:r>
          </a:p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docs/: plan,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ožičenje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protokol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plan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testiranja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izvještaji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, troubleshooting</a:t>
            </a:r>
          </a:p>
          <a:p>
            <a:pPr algn="l"/>
            <a:r>
              <a:rPr sz="16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Prezentacija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(ova!)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committana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u repo — </a:t>
            </a:r>
            <a:r>
              <a:rPr sz="1600" b="0" dirty="0" err="1">
                <a:solidFill>
                  <a:srgbClr val="E8EEF6"/>
                </a:solidFill>
                <a:latin typeface="Segoe UI"/>
              </a:rPr>
              <a:t>uključujući</a:t>
            </a:r>
            <a:r>
              <a:rPr sz="1600" b="0" dirty="0">
                <a:solidFill>
                  <a:srgbClr val="E8EEF6"/>
                </a:solidFill>
                <a:latin typeface="Segoe UI"/>
              </a:rPr>
              <a:t> generator (build_pptx.py)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080B43-9429-9538-B26F-B2DA01034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567" y="3326222"/>
            <a:ext cx="6590884" cy="330317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Plan demonstracije uživo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0005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1.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Uključivanje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→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kalibracija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coachingom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ekranu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(CENTER the knob)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2.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Uspješna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vježba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zona 900–1200, stability bar → SUCCESS +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vibracija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+ LED</a:t>
            </a: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3.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Rezultat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javnom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dashboardu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(spirobird.onrender.com) u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stvarnom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vremenu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4.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Neuspjeh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protok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preko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1200 →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crveno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nebo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FAIL + 3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vibracije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5.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Otpornost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gašenje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Displaya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ponovno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uključenje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→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automatski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re-lock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kanala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6. Sleep: 60 s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mirovanja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→ pseudo sleep;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dodir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budi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ekran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;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gumb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budi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Controller</a:t>
            </a:r>
          </a:p>
          <a:p>
            <a:pPr lvl="1" algn="l"/>
            <a:r>
              <a:rPr sz="1600" b="0" dirty="0">
                <a:solidFill>
                  <a:srgbClr val="F4CA40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F4CA40"/>
                </a:solidFill>
                <a:latin typeface="Segoe UI"/>
              </a:rPr>
              <a:t>rezerva</a:t>
            </a:r>
            <a:r>
              <a:rPr sz="1600" b="0" dirty="0">
                <a:solidFill>
                  <a:srgbClr val="F4CA40"/>
                </a:solidFill>
                <a:latin typeface="Segoe UI"/>
              </a:rPr>
              <a:t>: offline mod — </a:t>
            </a:r>
            <a:r>
              <a:rPr sz="1600" b="0" dirty="0" err="1">
                <a:solidFill>
                  <a:srgbClr val="F4CA40"/>
                </a:solidFill>
                <a:latin typeface="Segoe UI"/>
              </a:rPr>
              <a:t>sve</a:t>
            </a:r>
            <a:r>
              <a:rPr sz="1600" b="0" dirty="0">
                <a:solidFill>
                  <a:srgbClr val="F4CA40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F4CA40"/>
                </a:solidFill>
                <a:latin typeface="Segoe UI"/>
              </a:rPr>
              <a:t>radi</a:t>
            </a:r>
            <a:r>
              <a:rPr sz="1600" b="0" dirty="0">
                <a:solidFill>
                  <a:srgbClr val="F4CA40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F4CA40"/>
                </a:solidFill>
                <a:latin typeface="Segoe UI"/>
              </a:rPr>
              <a:t>i</a:t>
            </a:r>
            <a:r>
              <a:rPr sz="1600" b="0" dirty="0">
                <a:solidFill>
                  <a:srgbClr val="F4CA40"/>
                </a:solidFill>
                <a:latin typeface="Segoe UI"/>
              </a:rPr>
              <a:t> bez </a:t>
            </a:r>
            <a:r>
              <a:rPr sz="1600" b="0" dirty="0" err="1">
                <a:solidFill>
                  <a:srgbClr val="F4CA40"/>
                </a:solidFill>
                <a:latin typeface="Segoe UI"/>
              </a:rPr>
              <a:t>interneta</a:t>
            </a:r>
            <a:endParaRPr sz="1600" b="0" dirty="0">
              <a:solidFill>
                <a:srgbClr val="F4CA40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dirty="0" err="1">
                <a:solidFill>
                  <a:srgbClr val="F4CA40"/>
                </a:solidFill>
                <a:latin typeface="Segoe UI"/>
              </a:rPr>
              <a:t>Zaključak</a:t>
            </a:r>
            <a:r>
              <a:rPr sz="3200" b="1" dirty="0">
                <a:solidFill>
                  <a:srgbClr val="F4CA40"/>
                </a:solidFill>
                <a:latin typeface="Segoe UI"/>
              </a:rPr>
              <a:t> </a:t>
            </a:r>
            <a:r>
              <a:rPr sz="3200" b="1" dirty="0" err="1">
                <a:solidFill>
                  <a:srgbClr val="F4CA40"/>
                </a:solidFill>
                <a:latin typeface="Segoe UI"/>
              </a:rPr>
              <a:t>i</a:t>
            </a:r>
            <a:r>
              <a:rPr sz="3200" b="1" dirty="0">
                <a:solidFill>
                  <a:srgbClr val="F4CA40"/>
                </a:solidFill>
                <a:latin typeface="Segoe UI"/>
              </a:rPr>
              <a:t> </a:t>
            </a:r>
            <a:r>
              <a:rPr sz="3200" b="1" dirty="0" err="1">
                <a:solidFill>
                  <a:srgbClr val="F4CA40"/>
                </a:solidFill>
                <a:latin typeface="Segoe UI"/>
              </a:rPr>
              <a:t>moguće</a:t>
            </a:r>
            <a:r>
              <a:rPr sz="3200" b="1" dirty="0">
                <a:solidFill>
                  <a:srgbClr val="F4CA40"/>
                </a:solidFill>
                <a:latin typeface="Segoe UI"/>
              </a:rPr>
              <a:t> </a:t>
            </a:r>
            <a:r>
              <a:rPr sz="3200" b="1" dirty="0" err="1">
                <a:solidFill>
                  <a:srgbClr val="F4CA40"/>
                </a:solidFill>
                <a:latin typeface="Segoe UI"/>
              </a:rPr>
              <a:t>nadogradnje</a:t>
            </a:r>
            <a:endParaRPr sz="3200" b="1" dirty="0">
              <a:solidFill>
                <a:srgbClr val="F4CA40"/>
              </a:solidFill>
              <a:latin typeface="Sego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0005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38C172"/>
                </a:solidFill>
                <a:latin typeface="Segoe UI"/>
              </a:rPr>
              <a:t>•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Sustav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je u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potpunosti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implementiran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i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validiran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na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stvarnom</a:t>
            </a:r>
            <a:r>
              <a:rPr sz="1800" b="1" dirty="0">
                <a:solidFill>
                  <a:srgbClr val="38C172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38C172"/>
                </a:solidFill>
                <a:latin typeface="Segoe UI"/>
              </a:rPr>
              <a:t>hardveru</a:t>
            </a:r>
            <a:endParaRPr sz="1800" b="1" dirty="0">
              <a:solidFill>
                <a:srgbClr val="38C172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Demonstrirani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elementi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ugradbenih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sustava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: ADC,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prekidi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+ ISR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zastavice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event-driven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dizajn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bez delay(), state machine, PWM/LEDC, NVS, watchdog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guardovi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bežični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protokoli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, sleep </a:t>
            </a:r>
            <a:r>
              <a:rPr sz="1800" b="0" dirty="0" err="1">
                <a:solidFill>
                  <a:srgbClr val="E8EEF6"/>
                </a:solidFill>
                <a:latin typeface="Segoe UI"/>
              </a:rPr>
              <a:t>modovi</a:t>
            </a:r>
            <a:endParaRPr sz="1800" b="0" dirty="0">
              <a:solidFill>
                <a:srgbClr val="E8EEF6"/>
              </a:solidFill>
              <a:latin typeface="Segoe UI"/>
            </a:endParaRPr>
          </a:p>
          <a:p>
            <a:pPr algn="l"/>
            <a:r>
              <a:rPr sz="1800" b="0" dirty="0">
                <a:solidFill>
                  <a:srgbClr val="F4CA40"/>
                </a:solidFill>
                <a:latin typeface="Segoe UI"/>
              </a:rPr>
              <a:t>• </a:t>
            </a:r>
            <a:r>
              <a:rPr sz="1800" b="0" dirty="0" err="1">
                <a:solidFill>
                  <a:srgbClr val="F4CA40"/>
                </a:solidFill>
                <a:latin typeface="Segoe UI"/>
              </a:rPr>
              <a:t>Nadogradnje</a:t>
            </a:r>
            <a:r>
              <a:rPr sz="1800" b="0" dirty="0">
                <a:solidFill>
                  <a:srgbClr val="F4CA40"/>
                </a:solidFill>
                <a:latin typeface="Segoe UI"/>
              </a:rPr>
              <a:t>:</a:t>
            </a: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stvarni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senzor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protoka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daha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(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diferencijalni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tlak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) —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zamjena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u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jednom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modulu</a:t>
            </a:r>
            <a:endParaRPr sz="1600" b="0" dirty="0">
              <a:solidFill>
                <a:srgbClr val="93A8C4"/>
              </a:solidFill>
              <a:latin typeface="Segoe UI"/>
            </a:endParaRPr>
          </a:p>
          <a:p>
            <a:pPr lvl="1" algn="l"/>
            <a:r>
              <a:rPr sz="1600" b="0" dirty="0">
                <a:solidFill>
                  <a:srgbClr val="93A8C4"/>
                </a:solidFill>
                <a:latin typeface="Segoe UI"/>
              </a:rPr>
              <a:t>–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korisnički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profili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,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trajna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baza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, BLE </a:t>
            </a:r>
            <a:r>
              <a:rPr sz="1600" b="0" dirty="0" err="1">
                <a:solidFill>
                  <a:srgbClr val="93A8C4"/>
                </a:solidFill>
                <a:latin typeface="Segoe UI"/>
              </a:rPr>
              <a:t>aplikacija</a:t>
            </a:r>
            <a:r>
              <a:rPr sz="1600" b="0" dirty="0">
                <a:solidFill>
                  <a:srgbClr val="93A8C4"/>
                </a:solidFill>
                <a:latin typeface="Segoe UI"/>
              </a:rPr>
              <a:t>, OTA</a:t>
            </a:r>
            <a:r>
              <a:rPr sz="1800" b="0" dirty="0">
                <a:solidFill>
                  <a:srgbClr val="E8EEF6"/>
                </a:solidFill>
                <a:latin typeface="Segoe UI"/>
              </a:rPr>
              <a:t>• </a:t>
            </a:r>
          </a:p>
          <a:p>
            <a:pPr algn="l"/>
            <a:r>
              <a:rPr sz="1800" b="1" dirty="0">
                <a:solidFill>
                  <a:srgbClr val="F4CA40"/>
                </a:solidFill>
                <a:latin typeface="Segoe UI"/>
              </a:rPr>
              <a:t>• Hvala </a:t>
            </a:r>
            <a:r>
              <a:rPr sz="1800" b="1" dirty="0" err="1">
                <a:solidFill>
                  <a:srgbClr val="F4CA40"/>
                </a:solidFill>
                <a:latin typeface="Segoe UI"/>
              </a:rPr>
              <a:t>na</a:t>
            </a:r>
            <a:r>
              <a:rPr sz="1800" b="1" dirty="0">
                <a:solidFill>
                  <a:srgbClr val="F4CA40"/>
                </a:solidFill>
                <a:latin typeface="Segoe UI"/>
              </a:rPr>
              <a:t> </a:t>
            </a:r>
            <a:r>
              <a:rPr sz="1800" b="1" dirty="0" err="1">
                <a:solidFill>
                  <a:srgbClr val="F4CA40"/>
                </a:solidFill>
                <a:latin typeface="Segoe UI"/>
              </a:rPr>
              <a:t>pažnji</a:t>
            </a:r>
            <a:r>
              <a:rPr sz="1800" b="1" dirty="0">
                <a:solidFill>
                  <a:srgbClr val="F4CA40"/>
                </a:solidFill>
                <a:latin typeface="Segoe UI"/>
              </a:rPr>
              <a:t> — </a:t>
            </a:r>
            <a:r>
              <a:rPr sz="1800" b="1" dirty="0" err="1">
                <a:solidFill>
                  <a:srgbClr val="F4CA40"/>
                </a:solidFill>
                <a:latin typeface="Segoe UI"/>
              </a:rPr>
              <a:t>pitanja</a:t>
            </a:r>
            <a:r>
              <a:rPr sz="1800" b="1" dirty="0">
                <a:solidFill>
                  <a:srgbClr val="F4CA40"/>
                </a:solidFill>
                <a:latin typeface="Segoe UI"/>
              </a:rPr>
              <a:t>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1910</Words>
  <Application>Microsoft Office PowerPoint</Application>
  <PresentationFormat>Widescreen</PresentationFormat>
  <Paragraphs>166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Hrvoje Renato Šokčić</cp:lastModifiedBy>
  <cp:revision>3</cp:revision>
  <dcterms:created xsi:type="dcterms:W3CDTF">2013-01-27T09:14:16Z</dcterms:created>
  <dcterms:modified xsi:type="dcterms:W3CDTF">2026-06-09T12:42:13Z</dcterms:modified>
  <cp:category/>
</cp:coreProperties>
</file>